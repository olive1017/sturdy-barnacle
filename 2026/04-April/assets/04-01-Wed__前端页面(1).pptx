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36" y="40"/>
      </p:cViewPr>
      <p:guideLst>
        <p:guide orient="horz" pos="2160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459480" y="157480"/>
            <a:ext cx="5552440" cy="6543040"/>
            <a:chOff x="5448" y="248"/>
            <a:chExt cx="8872" cy="10304"/>
          </a:xfrm>
        </p:grpSpPr>
        <p:sp>
          <p:nvSpPr>
            <p:cNvPr id="4" name="矩形 3"/>
            <p:cNvSpPr/>
            <p:nvPr/>
          </p:nvSpPr>
          <p:spPr>
            <a:xfrm>
              <a:off x="5448" y="248"/>
              <a:ext cx="8848" cy="103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472" y="648"/>
              <a:ext cx="88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3850640" y="1610360"/>
            <a:ext cx="1747520" cy="4673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文本框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50640" y="1112520"/>
            <a:ext cx="1746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订单量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69280" y="1709420"/>
            <a:ext cx="711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/</a:t>
            </a:r>
            <a:r>
              <a:rPr lang="zh-CN" altLang="en-US"/>
              <a:t>天</a:t>
            </a:r>
          </a:p>
        </p:txBody>
      </p:sp>
      <p:sp>
        <p:nvSpPr>
          <p:cNvPr id="10" name="矩形 9"/>
          <p:cNvSpPr/>
          <p:nvPr/>
        </p:nvSpPr>
        <p:spPr>
          <a:xfrm>
            <a:off x="6700520" y="1610360"/>
            <a:ext cx="1747520" cy="4673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下拉框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700520" y="1112520"/>
            <a:ext cx="1746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仓库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8219440" y="899160"/>
            <a:ext cx="1981200" cy="8229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9824720" y="533400"/>
            <a:ext cx="813435" cy="1076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东勤仓</a:t>
            </a: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开源仓</a:t>
            </a: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源达仓</a:t>
            </a:r>
            <a:r>
              <a:rPr lang="en-US" altLang="zh-CN" sz="1400" b="1">
                <a:solidFill>
                  <a:schemeClr val="tx1"/>
                </a:solidFill>
              </a:rPr>
              <a:t>...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10373360" y="1376680"/>
            <a:ext cx="568960" cy="579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0292080" y="195580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选的时候显示具体地址（后续维护）</a:t>
            </a:r>
          </a:p>
          <a:p>
            <a:r>
              <a:rPr lang="zh-CN" altLang="en-US" sz="1200"/>
              <a:t>东勤仓地址：广州市黄埔区东勤路</a:t>
            </a:r>
            <a:r>
              <a:rPr lang="en-US" altLang="zh-CN" sz="1200"/>
              <a:t>15</a:t>
            </a:r>
            <a:r>
              <a:rPr lang="zh-CN" altLang="en-US" sz="1200"/>
              <a:t>源达仓地址：广州市黄埔区观达路</a:t>
            </a:r>
            <a:r>
              <a:rPr lang="en-US" altLang="zh-CN" sz="1200"/>
              <a:t>16</a:t>
            </a:r>
            <a:r>
              <a:rPr lang="zh-CN" altLang="en-US" sz="1200"/>
              <a:t>号</a:t>
            </a:r>
          </a:p>
          <a:p>
            <a:r>
              <a:rPr lang="zh-CN" altLang="en-US" sz="1200"/>
              <a:t>可以链接地图吗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767580" y="2479040"/>
            <a:ext cx="2921000" cy="5607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400"/>
              <a:t>立即计算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691380" y="3142615"/>
            <a:ext cx="28086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坪效计算中</a:t>
            </a:r>
            <a:r>
              <a:rPr lang="en-US" altLang="zh-CN"/>
              <a:t>....</a:t>
            </a:r>
          </a:p>
          <a:p>
            <a:r>
              <a:rPr lang="zh-CN" altLang="en-US"/>
              <a:t>仓库应用面积生成中</a:t>
            </a:r>
            <a:r>
              <a:rPr lang="en-US" altLang="zh-CN"/>
              <a:t>...</a:t>
            </a:r>
          </a:p>
          <a:p>
            <a:r>
              <a:rPr lang="zh-CN" altLang="en-US"/>
              <a:t>单均仓库成本生成中</a:t>
            </a:r>
            <a:r>
              <a:rPr lang="en-US" altLang="zh-CN"/>
              <a:t>...</a:t>
            </a:r>
          </a:p>
        </p:txBody>
      </p:sp>
      <p:cxnSp>
        <p:nvCxnSpPr>
          <p:cNvPr id="2" name="直接箭头连接符 1"/>
          <p:cNvCxnSpPr/>
          <p:nvPr/>
        </p:nvCxnSpPr>
        <p:spPr>
          <a:xfrm flipH="1" flipV="1">
            <a:off x="7878445" y="2785745"/>
            <a:ext cx="1797050" cy="443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9675495" y="3039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点击后</a:t>
            </a:r>
            <a:r>
              <a:rPr lang="en-US" altLang="zh-CN"/>
              <a:t>Loading...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6794500" y="3754755"/>
            <a:ext cx="2682875" cy="309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581515" y="3830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Loading</a:t>
            </a:r>
            <a:r>
              <a:rPr lang="zh-CN" altLang="en-US"/>
              <a:t>时反复横跳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67455" y="4714875"/>
            <a:ext cx="2143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仓库建议应用面积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278630" y="5397500"/>
            <a:ext cx="99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XXX</a:t>
            </a:r>
            <a:r>
              <a:rPr lang="zh-CN" altLang="en-US"/>
              <a:t>㎡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577330" y="4714875"/>
            <a:ext cx="2143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单均仓库成本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794500" y="5397500"/>
            <a:ext cx="1652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X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单</a:t>
            </a:r>
            <a:r>
              <a:rPr lang="en-US" altLang="zh-CN"/>
              <a:t>/</a:t>
            </a:r>
            <a:r>
              <a:rPr lang="zh-CN" altLang="en-US"/>
              <a:t>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594360" y="171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计算逻辑</a:t>
            </a:r>
          </a:p>
        </p:txBody>
      </p:sp>
      <p:graphicFrame>
        <p:nvGraphicFramePr>
          <p:cNvPr id="25" name="表格 24"/>
          <p:cNvGraphicFramePr/>
          <p:nvPr>
            <p:custDataLst>
              <p:tags r:id="rId1"/>
            </p:custDataLst>
          </p:nvPr>
        </p:nvGraphicFramePr>
        <p:xfrm>
          <a:off x="658495" y="681990"/>
          <a:ext cx="8940165" cy="1777365"/>
        </p:xfrm>
        <a:graphic>
          <a:graphicData uri="http://schemas.openxmlformats.org/drawingml/2006/table">
            <a:tbl>
              <a:tblPr/>
              <a:tblGrid>
                <a:gridCol w="166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24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500" b="1" i="0" spc="12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订单区间（平均每天</a:t>
                      </a:r>
                      <a:r>
                        <a:rPr lang="en-US" altLang="zh-CN" sz="1500" b="1" i="0" spc="12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500" b="1" i="0" spc="12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单）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1-500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500-2000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2000-5000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5000-1000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10000-20000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20000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以上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500" b="1" i="0" spc="12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仓库面积（平方米）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1-275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275-700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700-1000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1000-1800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1800-3000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3000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以上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500" b="1" i="0" spc="12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坪效（平均订单占地面积）：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0.55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0.35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0.18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0.15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0.15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以下</a:t>
                      </a:r>
                    </a:p>
                  </a:txBody>
                  <a:tcPr marL="25400" marR="2540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594360" y="2760980"/>
            <a:ext cx="4951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每增加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4000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单，坪效下降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0.01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，最低坪效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0.1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58495" y="32429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仓租：源达仓</a:t>
            </a:r>
            <a:r>
              <a:rPr lang="en-US" altLang="zh-CN"/>
              <a:t>43.54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㎡月</a:t>
            </a:r>
            <a:r>
              <a:rPr lang="en-US" altLang="zh-CN"/>
              <a:t> </a:t>
            </a:r>
            <a:r>
              <a:rPr lang="zh-CN" altLang="en-US"/>
              <a:t>（不含税）</a:t>
            </a:r>
          </a:p>
          <a:p>
            <a:r>
              <a:rPr lang="zh-CN" altLang="en-US"/>
              <a:t>东勤仓</a:t>
            </a:r>
            <a:r>
              <a:rPr lang="en-US" altLang="zh-CN"/>
              <a:t>36</a:t>
            </a:r>
            <a:r>
              <a:rPr lang="zh-CN" altLang="en-US">
                <a:sym typeface="+mn-ea"/>
              </a:rPr>
              <a:t>元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㎡月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（不含税）</a:t>
            </a:r>
            <a:endParaRPr lang="zh-CN" altLang="en-US"/>
          </a:p>
          <a:p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658495" y="4556125"/>
            <a:ext cx="8155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仓库应用面积</a:t>
            </a:r>
            <a:r>
              <a:rPr lang="en-US" altLang="zh-CN"/>
              <a:t>=</a:t>
            </a:r>
            <a:r>
              <a:rPr lang="zh-CN" altLang="en-US"/>
              <a:t>坪效</a:t>
            </a:r>
            <a:r>
              <a:rPr lang="en-US" altLang="zh-CN"/>
              <a:t>*</a:t>
            </a:r>
            <a:r>
              <a:rPr lang="zh-CN" altLang="en-US"/>
              <a:t>订单数量</a:t>
            </a:r>
          </a:p>
          <a:p>
            <a:r>
              <a:rPr lang="zh-CN" altLang="en-US"/>
              <a:t>单均仓库成本</a:t>
            </a:r>
            <a:r>
              <a:rPr lang="en-US" altLang="zh-CN"/>
              <a:t>=</a:t>
            </a:r>
            <a:r>
              <a:rPr lang="zh-CN" altLang="en-US"/>
              <a:t>一年的订单量</a:t>
            </a:r>
            <a:r>
              <a:rPr lang="en-US" altLang="zh-CN"/>
              <a:t>/(</a:t>
            </a:r>
            <a:r>
              <a:rPr lang="zh-CN" altLang="en-US"/>
              <a:t>仓库应用面积</a:t>
            </a:r>
            <a:r>
              <a:rPr lang="en-US" altLang="zh-CN"/>
              <a:t>*</a:t>
            </a:r>
            <a:r>
              <a:rPr lang="zh-CN" altLang="en-US"/>
              <a:t>每月仓租</a:t>
            </a:r>
            <a:r>
              <a:rPr lang="en-US" altLang="zh-CN"/>
              <a:t>*12</a:t>
            </a:r>
            <a:r>
              <a:rPr lang="zh-CN" altLang="en-US"/>
              <a:t>个月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3*139"/>
  <p:tag name="TABLE_ENDDRAG_RECT" val="51*53*703*13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222</Words>
  <Application>Microsoft Office PowerPoint</Application>
  <PresentationFormat>宽屏</PresentationFormat>
  <Paragraphs>48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微软雅黑</vt:lpstr>
      <vt:lpstr>Arial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xinan</dc:creator>
  <cp:lastModifiedBy>xinanying2025@qq.com</cp:lastModifiedBy>
  <cp:revision>8</cp:revision>
  <dcterms:created xsi:type="dcterms:W3CDTF">2023-08-09T12:44:00Z</dcterms:created>
  <dcterms:modified xsi:type="dcterms:W3CDTF">2026-04-01T08:24:29Z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D4B6D42604E74AD39960988E5B73AE2E_12</vt:lpwstr>
  </property>
</Properties>
</file>